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Arimo"/>
      <p:regular r:id="rId201314"/>
    </p:embeddedFont>
    <p:embeddedFont>
      <p:font typeface="Arimo Medium"/>
      <p:regular r:id="rId201315"/>
    </p:embeddedFont>
    <p:embeddedFont>
      <p:font typeface="Arimo SemiBold"/>
      <p:regular r:id="rId201316"/>
    </p:embeddedFont>
    <p:embeddedFont>
      <p:font typeface="Arimo Bold"/>
      <p:regular r:id="rId201317"/>
    </p:embeddedFont>
    <p:embeddedFont>
      <p:font typeface="Outfit Light"/>
      <p:regular r:id="rId201318"/>
    </p:embeddedFont>
    <p:embeddedFont>
      <p:font typeface="Outfit Thin"/>
      <p:regular r:id="rId201319"/>
    </p:embeddedFont>
    <p:embeddedFont>
      <p:font typeface="Outfit ExtraLight"/>
      <p:regular r:id="rId201320"/>
    </p:embeddedFont>
    <p:embeddedFont>
      <p:font typeface="Outfit"/>
      <p:regular r:id="rId201321"/>
    </p:embeddedFont>
    <p:embeddedFont>
      <p:font typeface="Outfit Medium"/>
      <p:regular r:id="rId201322"/>
    </p:embeddedFont>
    <p:embeddedFont>
      <p:font typeface="Outfit SemiBold"/>
      <p:regular r:id="rId201323"/>
    </p:embeddedFont>
    <p:embeddedFont>
      <p:font typeface="Outfit Bold"/>
      <p:regular r:id="rId201324"/>
    </p:embeddedFont>
    <p:embeddedFont>
      <p:font typeface="Outfit ExtraBold"/>
      <p:regular r:id="rId201325"/>
    </p:embeddedFont>
    <p:embeddedFont>
      <p:font typeface="Outfit Black"/>
      <p:regular r:id="rId2013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SuperStore Sales Dashboard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 interactive Power BI dashboard analyzing sales performance, customer purchasing trends, and regional insights — converting raw data into actionable business intelligence.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3874"/>
            <a:ext cx="981670" cy="177850"/>
          </a:xfrm>
          <a:prstGeom prst="roundRect">
            <a:avLst>
              <a:gd name="adj" fmla="val 19669"/>
            </a:avLst>
          </a:prstGeom>
          <a:solidFill>
            <a:srgbClr val="D7D2F9"/>
          </a:solidFill>
          <a:ln/>
        </p:spPr>
      </p:sp>
      <p:sp>
        <p:nvSpPr>
          <p:cNvPr id="3" name="Text 1"/>
          <p:cNvSpPr/>
          <p:nvPr/>
        </p:nvSpPr>
        <p:spPr>
          <a:xfrm>
            <a:off x="558552" y="425053"/>
            <a:ext cx="1314004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PROJECT OVERVIEW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602233"/>
            <a:ext cx="8151763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What We Built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28192"/>
            <a:ext cx="5209729" cy="29521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64510" y="2315394"/>
            <a:ext cx="2688059" cy="577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Developed an interactive SuperStore Sales Dashboard in Power BI to analyze sales performance and customer purchasing trends. Data was cleaned and transformed in Excel before creating visualizations.</a:t>
            </a:r>
            <a:endParaRPr lang="en-US" sz="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5112" y="4255480"/>
            <a:ext cx="156121" cy="15612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4405" y="4252243"/>
            <a:ext cx="3689821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Key Metrics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834405" y="4460751"/>
            <a:ext cx="3689821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Total customers, total sales, sales by age group, gender-wise distribution, order status by channel, monthly trends, and top 5 performing states.</a:t>
            </a:r>
            <a:endParaRPr lang="en-US" sz="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58767" y="4255480"/>
            <a:ext cx="156121" cy="15612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58060" y="4252243"/>
            <a:ext cx="3689821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Interactive Slicers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4958060" y="4460751"/>
            <a:ext cx="3689821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Gender and Category slicers enable dynamic filtering for deeper analysis.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307232"/>
            <a:ext cx="675977" cy="266402"/>
          </a:xfrm>
          <a:prstGeom prst="roundRect">
            <a:avLst>
              <a:gd name="adj" fmla="val 17880"/>
            </a:avLst>
          </a:prstGeom>
          <a:solidFill>
            <a:srgbClr val="D7D2F9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349722"/>
            <a:ext cx="96306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DATASET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63033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356768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9,995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496119" y="3001714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Rows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660553" y="2356768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20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4660553" y="3001714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Columns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6119" y="3382640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Key features include: order_id, customer_id, shipping_state, shipping_country, gender, age, age_group, date, status, category, size, quantity, amount, and B2B flag.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54968"/>
            <a:ext cx="757535" cy="136252"/>
          </a:xfrm>
          <a:prstGeom prst="roundRect">
            <a:avLst>
              <a:gd name="adj" fmla="val 20758"/>
            </a:avLst>
          </a:prstGeom>
          <a:solidFill>
            <a:srgbClr val="D7D2F9"/>
          </a:solidFill>
          <a:ln/>
        </p:spPr>
      </p:sp>
      <p:sp>
        <p:nvSpPr>
          <p:cNvPr id="3" name="Text 1"/>
          <p:cNvSpPr/>
          <p:nvPr/>
        </p:nvSpPr>
        <p:spPr>
          <a:xfrm>
            <a:off x="546571" y="480194"/>
            <a:ext cx="1113830" cy="85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DATA PREPARATION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96119" y="611163"/>
            <a:ext cx="8151763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Exploratory Data Analysis in Excel</a:t>
            </a:r>
            <a:endParaRPr lang="en-US" sz="16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949151"/>
            <a:ext cx="8151763" cy="35758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966551" y="3639502"/>
            <a:ext cx="1232034" cy="22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Preprocess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966551" y="3922847"/>
            <a:ext cx="1232034" cy="281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Find and replace to clean values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80432" y="3418905"/>
            <a:ext cx="1232034" cy="441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Connect to Power BI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880432" y="3922847"/>
            <a:ext cx="1232034" cy="281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Import cleaned Excel file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52751" y="1270536"/>
            <a:ext cx="1232034" cy="22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Load Data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052751" y="1553881"/>
            <a:ext cx="1232034" cy="140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Import Excel file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50944" y="1270536"/>
            <a:ext cx="1232034" cy="441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950944" y="1774478"/>
            <a:ext cx="1232034" cy="2811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Create age_group via nested IFs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6119" y="4581153"/>
            <a:ext cx="8608963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Data was loaded from an Excel file, preprocessed using find-and-replace to remove inconsistent values, and enhanced with a new </a:t>
            </a:r>
            <a:pPr algn="l" indent="0" marL="0">
              <a:lnSpc>
                <a:spcPct val="106000"/>
              </a:lnSpc>
              <a:buNone/>
            </a:pPr>
            <a:r>
              <a:rPr lang="en-US" sz="6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age_group</a:t>
            </a:r>
            <a:pPr algn="l" indent="0" marL="0">
              <a:lnSpc>
                <a:spcPct val="106000"/>
              </a:lnSpc>
              <a:buNone/>
            </a:pPr>
            <a:r>
              <a:rPr lang="en-US" sz="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column created via nested IF conditions before connecting to Power BI.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43805"/>
            <a:ext cx="690786" cy="244376"/>
          </a:xfrm>
          <a:prstGeom prst="roundRect">
            <a:avLst>
              <a:gd name="adj" fmla="val 18274"/>
            </a:avLst>
          </a:prstGeom>
          <a:solidFill>
            <a:srgbClr val="D7D2F9"/>
          </a:solidFill>
          <a:ln/>
        </p:spPr>
      </p:sp>
      <p:sp>
        <p:nvSpPr>
          <p:cNvPr id="3" name="Text 1"/>
          <p:cNvSpPr/>
          <p:nvPr/>
        </p:nvSpPr>
        <p:spPr>
          <a:xfrm>
            <a:off x="575816" y="483617"/>
            <a:ext cx="988591" cy="164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POWER BI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737964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Building the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96119" y="1464692"/>
            <a:ext cx="391380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DAX Measures Created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812503"/>
            <a:ext cx="3913808" cy="8326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0460" y="1959694"/>
            <a:ext cx="3562276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Total Sales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00460" y="2291953"/>
            <a:ext cx="356227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COUNT of Amount field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769691"/>
            <a:ext cx="3913808" cy="83261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0460" y="2916882"/>
            <a:ext cx="3562276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Total Customers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00460" y="3249141"/>
            <a:ext cx="356227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COUNT of Cust ID field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726879"/>
            <a:ext cx="3913808" cy="83261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0460" y="3874071"/>
            <a:ext cx="3562276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Total Categories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700460" y="4206329"/>
            <a:ext cx="356227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COUNT of Category field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738836" y="1464692"/>
            <a:ext cx="391380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Visualizations Created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738836" y="1796951"/>
            <a:ext cx="3913808" cy="1453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KPI cards for customers, sales, and categories</a:t>
            </a:r>
            <a:endParaRPr lang="en-US" sz="1000" dirty="0"/>
          </a:p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Column chart: sales by age group</a:t>
            </a:r>
            <a:endParaRPr lang="en-US" sz="1000" dirty="0"/>
          </a:p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Pie &amp; donut charts: gender distribution and order status</a:t>
            </a:r>
            <a:endParaRPr lang="en-US" sz="1000" dirty="0"/>
          </a:p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Horizontal bar: top 5 state sales</a:t>
            </a:r>
            <a:endParaRPr lang="en-US" sz="1000" dirty="0"/>
          </a:p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Line chart: monthly orders vs. sales</a:t>
            </a:r>
            <a:endParaRPr lang="en-US" sz="1000" dirty="0"/>
          </a:p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Interactive slicers: Gender and Category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5660"/>
            <a:ext cx="721221" cy="202629"/>
          </a:xfrm>
          <a:prstGeom prst="roundRect">
            <a:avLst>
              <a:gd name="adj" fmla="val 19100"/>
            </a:avLst>
          </a:prstGeom>
          <a:solidFill>
            <a:srgbClr val="D7D2F9"/>
          </a:solidFill>
          <a:ln/>
        </p:spPr>
      </p:sp>
      <p:sp>
        <p:nvSpPr>
          <p:cNvPr id="3" name="Text 1"/>
          <p:cNvSpPr/>
          <p:nvPr/>
        </p:nvSpPr>
        <p:spPr>
          <a:xfrm>
            <a:off x="565175" y="430188"/>
            <a:ext cx="1040309" cy="133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DASHBOARD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635719"/>
            <a:ext cx="815176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SuperStore Sales Dashboard</a:t>
            </a:r>
            <a:endParaRPr lang="en-US" sz="2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36005"/>
            <a:ext cx="4722540" cy="28637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6119" y="4104977"/>
            <a:ext cx="8151763" cy="642789"/>
          </a:xfrm>
          <a:prstGeom prst="roundRect">
            <a:avLst>
              <a:gd name="adj" fmla="val 7526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0881" y="4109740"/>
            <a:ext cx="2714030" cy="633264"/>
          </a:xfrm>
          <a:prstGeom prst="rect">
            <a:avLst/>
          </a:prstGeom>
          <a:solidFill>
            <a:srgbClr val="E9E6FA"/>
          </a:solidFill>
          <a:ln/>
        </p:spPr>
      </p:sp>
      <p:sp>
        <p:nvSpPr>
          <p:cNvPr id="8" name="Text 5"/>
          <p:cNvSpPr/>
          <p:nvPr/>
        </p:nvSpPr>
        <p:spPr>
          <a:xfrm>
            <a:off x="616000" y="4224858"/>
            <a:ext cx="248379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Total Customers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6000" y="4460900"/>
            <a:ext cx="248379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31K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14911" y="4109740"/>
            <a:ext cx="2714104" cy="633264"/>
          </a:xfrm>
          <a:prstGeom prst="rect">
            <a:avLst/>
          </a:prstGeom>
          <a:solidFill>
            <a:srgbClr val="E9E6FA"/>
          </a:solidFill>
          <a:ln/>
        </p:spPr>
      </p:sp>
      <p:sp>
        <p:nvSpPr>
          <p:cNvPr id="11" name="Shape 8"/>
          <p:cNvSpPr/>
          <p:nvPr/>
        </p:nvSpPr>
        <p:spPr>
          <a:xfrm>
            <a:off x="3214911" y="4109740"/>
            <a:ext cx="14288" cy="633264"/>
          </a:xfrm>
          <a:prstGeom prst="roundRect">
            <a:avLst>
              <a:gd name="adj" fmla="val 338593"/>
            </a:avLst>
          </a:prstGeom>
          <a:solidFill>
            <a:srgbClr val="BDB8DF"/>
          </a:solidFill>
          <a:ln/>
        </p:spPr>
      </p:sp>
      <p:sp>
        <p:nvSpPr>
          <p:cNvPr id="12" name="Text 9"/>
          <p:cNvSpPr/>
          <p:nvPr/>
        </p:nvSpPr>
        <p:spPr>
          <a:xfrm>
            <a:off x="3330029" y="4224858"/>
            <a:ext cx="2483867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Total Categories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330029" y="4460900"/>
            <a:ext cx="2483867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31K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929015" y="4109740"/>
            <a:ext cx="2714104" cy="633264"/>
          </a:xfrm>
          <a:prstGeom prst="rect">
            <a:avLst/>
          </a:prstGeom>
          <a:solidFill>
            <a:srgbClr val="E9E6FA"/>
          </a:solidFill>
          <a:ln/>
        </p:spPr>
      </p:sp>
      <p:sp>
        <p:nvSpPr>
          <p:cNvPr id="15" name="Shape 12"/>
          <p:cNvSpPr/>
          <p:nvPr/>
        </p:nvSpPr>
        <p:spPr>
          <a:xfrm>
            <a:off x="5929015" y="4109740"/>
            <a:ext cx="14288" cy="633264"/>
          </a:xfrm>
          <a:prstGeom prst="roundRect">
            <a:avLst>
              <a:gd name="adj" fmla="val 338593"/>
            </a:avLst>
          </a:prstGeom>
          <a:solidFill>
            <a:srgbClr val="BDB8DF"/>
          </a:solidFill>
          <a:ln/>
        </p:spPr>
      </p:sp>
      <p:sp>
        <p:nvSpPr>
          <p:cNvPr id="16" name="Text 13"/>
          <p:cNvSpPr/>
          <p:nvPr/>
        </p:nvSpPr>
        <p:spPr>
          <a:xfrm>
            <a:off x="6044133" y="4224858"/>
            <a:ext cx="2483867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Total Sales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044133" y="4460900"/>
            <a:ext cx="2483867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$31.05K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62781"/>
            <a:ext cx="507057" cy="173013"/>
          </a:xfrm>
          <a:prstGeom prst="roundRect">
            <a:avLst>
              <a:gd name="adj" fmla="val 19789"/>
            </a:avLst>
          </a:prstGeom>
          <a:solidFill>
            <a:srgbClr val="D7D2F9"/>
          </a:solidFill>
          <a:ln/>
        </p:spPr>
      </p:sp>
      <p:sp>
        <p:nvSpPr>
          <p:cNvPr id="3" name="Text 1"/>
          <p:cNvSpPr/>
          <p:nvPr/>
        </p:nvSpPr>
        <p:spPr>
          <a:xfrm>
            <a:off x="557213" y="493291"/>
            <a:ext cx="842070" cy="111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INSIGHTS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96119" y="665038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Sales by Age Group &amp; Gender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75593"/>
            <a:ext cx="3951610" cy="284432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1034" y="1166440"/>
            <a:ext cx="3951610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Gender Distribution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034" y="1408063"/>
            <a:ext cx="3951610" cy="284432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01034" y="4334768"/>
            <a:ext cx="3951610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Adults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are the highest-spending age group (15K sales), while </a:t>
            </a:r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Women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account for nearly </a:t>
            </a:r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5E4CE6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69.42%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of total sales — a key demographic to prioritize in marketing campaigns.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9678"/>
            <a:ext cx="540023" cy="187672"/>
          </a:xfrm>
          <a:prstGeom prst="roundRect">
            <a:avLst>
              <a:gd name="adj" fmla="val 19433"/>
            </a:avLst>
          </a:prstGeom>
          <a:solidFill>
            <a:srgbClr val="D7D2F9"/>
          </a:solidFill>
          <a:ln/>
        </p:spPr>
      </p:sp>
      <p:sp>
        <p:nvSpPr>
          <p:cNvPr id="3" name="Text 1"/>
          <p:cNvSpPr/>
          <p:nvPr/>
        </p:nvSpPr>
        <p:spPr>
          <a:xfrm>
            <a:off x="561231" y="432197"/>
            <a:ext cx="866998" cy="12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INSIGHTS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620539"/>
            <a:ext cx="8151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Order Status &amp; Top 5 States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96119" y="1167408"/>
            <a:ext cx="394349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Order Status by Channel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30387"/>
            <a:ext cx="3943499" cy="28385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09145" y="1167408"/>
            <a:ext cx="394349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Sales by Top 5 States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45" y="1430387"/>
            <a:ext cx="3943499" cy="28385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09145" y="4362376"/>
            <a:ext cx="3943499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92.25%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of orders are successfully delivered. </a:t>
            </a:r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5E4CE6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Maharashtra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leads in sales (4.5K), while Telangana has the lowest among top 5 states.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317822" cy="110430"/>
          </a:xfrm>
          <a:prstGeom prst="roundRect">
            <a:avLst>
              <a:gd name="adj" fmla="val 21567"/>
            </a:avLst>
          </a:prstGeom>
          <a:solidFill>
            <a:srgbClr val="D7D2F9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690042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TRENDS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4424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Monthly Orders vs. Sales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89012"/>
            <a:ext cx="8151763" cy="45649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53937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Orders and sales peaked in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March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(2,819 orders, $1.97M) and gradually declined toward year-end, with the lowest activity in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November–December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 This seasonal pattern supports targeted stock planning and promotional campaigns.</a:t>
            </a:r>
            <a:endParaRPr lang="en-US" sz="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411063"/>
            <a:ext cx="1192411" cy="228451"/>
          </a:xfrm>
          <a:prstGeom prst="roundRect">
            <a:avLst>
              <a:gd name="adj" fmla="val 18570"/>
            </a:avLst>
          </a:prstGeom>
          <a:solidFill>
            <a:srgbClr val="D7D2F9"/>
          </a:solidFill>
          <a:ln/>
        </p:spPr>
      </p:sp>
      <p:sp>
        <p:nvSpPr>
          <p:cNvPr id="4" name="Text 1"/>
          <p:cNvSpPr/>
          <p:nvPr/>
        </p:nvSpPr>
        <p:spPr>
          <a:xfrm>
            <a:off x="571872" y="448940"/>
            <a:ext cx="1498104" cy="152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RECOMMENDATIONS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96119" y="684461"/>
            <a:ext cx="4722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Actionable Insights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496119" y="1247626"/>
            <a:ext cx="2305124" cy="1972568"/>
          </a:xfrm>
          <a:prstGeom prst="roundRect">
            <a:avLst>
              <a:gd name="adj" fmla="val 2688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7087" y="1378595"/>
            <a:ext cx="378768" cy="378768"/>
          </a:xfrm>
          <a:prstGeom prst="ellipse">
            <a:avLst/>
          </a:prstGeom>
          <a:solidFill>
            <a:srgbClr val="5E4CE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267" y="1482700"/>
            <a:ext cx="170408" cy="1704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7087" y="1869802"/>
            <a:ext cx="204318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Target Age Groups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27087" y="2134493"/>
            <a:ext cx="2043187" cy="954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Analyze which age groups contribute the most revenue and run personalized marketing campaigns — especially targeting Adults, the top-spending segment.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2913683" y="1247626"/>
            <a:ext cx="2305199" cy="1972568"/>
          </a:xfrm>
          <a:prstGeom prst="roundRect">
            <a:avLst>
              <a:gd name="adj" fmla="val 2688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044651" y="1378595"/>
            <a:ext cx="378768" cy="378768"/>
          </a:xfrm>
          <a:prstGeom prst="ellipse">
            <a:avLst/>
          </a:prstGeom>
          <a:solidFill>
            <a:srgbClr val="5E4CE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48831" y="1482700"/>
            <a:ext cx="170408" cy="1704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044651" y="1869802"/>
            <a:ext cx="204326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Leverage Seasonal Trends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044651" y="2134493"/>
            <a:ext cx="2043261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Increase stock and marketing efforts during high-sales months (Jan–Mar) and prepare promotional campaigns in advance for peak periods.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96119" y="3332634"/>
            <a:ext cx="4722763" cy="1399729"/>
          </a:xfrm>
          <a:prstGeom prst="roundRect">
            <a:avLst>
              <a:gd name="adj" fmla="val 3789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27087" y="3463603"/>
            <a:ext cx="378768" cy="378768"/>
          </a:xfrm>
          <a:prstGeom prst="ellipse">
            <a:avLst/>
          </a:prstGeom>
          <a:solidFill>
            <a:srgbClr val="5E4CE6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1267" y="3567708"/>
            <a:ext cx="170408" cy="1704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7087" y="3954810"/>
            <a:ext cx="446082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Improve Retention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27087" y="4219501"/>
            <a:ext cx="4460825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Identify customers who haven't purchased recently and send personalized offers or discounts to encourage repeat purchases.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2026-07-07T20:54:28Z</dcterms:created>
  <dcterms:modified xsi:type="dcterms:W3CDTF">2026-07-07T20:54:28Z</dcterms:modified>
</cp:coreProperties>
</file>